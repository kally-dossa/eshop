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4D43A-EF22-24F0-DC30-DD8FED332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E326C-4D85-03DE-588F-791A7FD7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0F905-ED91-6CAD-5C6A-EF88A66C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CB0C3-B935-EF25-8E94-6C3EDE5F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FE8A3-9379-3D52-3D43-E077A3E1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1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F4ED-CF23-C735-81EE-DA938DFC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BD257-3649-884E-7B95-28F02E388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DC100-7523-3DB8-7EE8-0FE68CA44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CFFC5-2834-81AB-D36C-DE91DFB8A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74D88-F24E-108A-5F4C-F1B3331E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6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EF5B-CEC4-2B4E-7873-CB83180B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4109E-2EC0-BC47-3881-8F8EF3407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0823A-B4D3-DE70-8339-B66F6856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8C50D-4D0F-3C52-AB77-E9CE943CD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30E4F-A57B-E93D-9FD6-DBCE6DCA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6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4A73-4FCC-E154-8DE7-F71375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6D3EE-19E3-0636-E828-AE87B1EA0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30CDD-CA3A-6EE2-FBBF-2F9027605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89FA3-93AB-0C54-BFDF-5AA24577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F63D4-26B5-4B41-3C53-8E26C277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F6C9B-C2DB-2F60-94FD-E2F9F0E0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9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9300-E4F5-E39B-6272-34FC202E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D7317-D62F-CF8C-4313-6C466E2A3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65853-B1A0-E41B-772F-0675273D1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7DAD99-0DCF-A8A1-197A-A9FED4E34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F863CE-1EFD-8081-C7E5-5A5799E82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45F8E-82EE-EC88-085C-86E6DABA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F1EA8B-E26B-9FD3-B343-83A529E4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F16829-0F39-E117-2DB9-2247D352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0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28B7-2DEE-C7F7-0923-1EA9440A6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655B8-929B-C1BD-A925-BC15B689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D70CF-6421-EB5E-292C-4612FF7D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DA71B-C3FB-E855-ED0D-4D6DF469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21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45CE8-7259-828C-862B-123C1AC41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980AF-D689-027D-CBBE-05C3400C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AAC9C-9402-D44B-E638-1D8A6FA2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57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1B6B-0298-2E3B-2B10-5B98E07D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C476-DE8A-F25E-F066-290BC2AAF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9EC6D-1C59-61EF-E414-0FF42605E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0BD3E-1D1D-0180-A6B0-499C6148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050D9-E9B9-2B07-4CEB-EDAFFBF1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C4B2C-110E-5A62-BCEE-A561597A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1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54A5-B58A-FF06-0872-7755583CC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BBA41-5692-CF0A-9BC8-A74CBB850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67F1C-1522-4BF3-36CC-8C312BB3B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555E7-5128-AB9C-F17F-CBB80BA6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04CD9-6EE2-5A35-7CEF-0E7E0328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13D9E-CF08-C802-2F38-65AB849E8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6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7D57F-B9F4-ACC0-AEE4-67FCFCC8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BADCB-6FBE-9327-A63E-9B2855687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6EB74-EEE8-1464-4A46-60D8A739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2884D-B763-D181-7EEF-E41403CB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3AECA-D6C8-D92F-D80F-0E93E30A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1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53479-CD7B-27D3-3E40-66F8527FA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0CB8-89B6-43F1-7A9A-CAE0122A7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B2617-C814-3ED6-68A6-AB4C5620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44789-ADD2-A202-5797-1BA3E54E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8A637-5E79-E328-53A4-F6AC684E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3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E43B4-58A2-FE62-38D5-17ECF7F8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41B8E-A81C-E40E-EB87-AA327CA75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622F8-75CE-D2EA-FF3B-1A8547D48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98CF3-C8C0-4370-B7C1-604185F416C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C9644-6264-8F4E-EAD0-B176CB430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B6BF7-77E0-E3D4-ED26-C52A20F09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AC626-3F6C-473D-964D-48BB7D3C6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7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813F18A8-61A3-F663-37AA-744A5581732D}"/>
              </a:ext>
            </a:extLst>
          </p:cNvPr>
          <p:cNvSpPr/>
          <p:nvPr/>
        </p:nvSpPr>
        <p:spPr>
          <a:xfrm>
            <a:off x="605531" y="709934"/>
            <a:ext cx="63932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E-Shop Web Application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D7FEE6E-9532-73F1-089D-73C620D83D24}"/>
              </a:ext>
            </a:extLst>
          </p:cNvPr>
          <p:cNvSpPr/>
          <p:nvPr/>
        </p:nvSpPr>
        <p:spPr>
          <a:xfrm>
            <a:off x="605531" y="1509439"/>
            <a:ext cx="3910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Ανάπτυξη Υπηρεσιών Νέφους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1414B01-0BB3-C980-9F96-3E8BCE7F2A78}"/>
              </a:ext>
            </a:extLst>
          </p:cNvPr>
          <p:cNvSpPr/>
          <p:nvPr/>
        </p:nvSpPr>
        <p:spPr>
          <a:xfrm>
            <a:off x="605531" y="1954495"/>
            <a:ext cx="7552351" cy="1111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Δώσσα Α. Καλλιόπη</a:t>
            </a:r>
          </a:p>
          <a:p>
            <a:pPr>
              <a:lnSpc>
                <a:spcPts val="2850"/>
              </a:lnSpc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Κορλού Ευσταθία</a:t>
            </a:r>
          </a:p>
          <a:p>
            <a:pPr>
              <a:lnSpc>
                <a:spcPts val="2850"/>
              </a:lnSpc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Κωνσταντινίδης Μενέλαος</a:t>
            </a:r>
            <a:endParaRPr lang="el-GR" sz="1750" b="1" dirty="0">
              <a:solidFill>
                <a:srgbClr val="3C3939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05A236-40AC-4FCD-5860-B43DFA817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056" y="3156655"/>
            <a:ext cx="6644074" cy="352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4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5BF154E-8A1F-969C-B49D-E7A9BDA45C73}"/>
              </a:ext>
            </a:extLst>
          </p:cNvPr>
          <p:cNvSpPr/>
          <p:nvPr/>
        </p:nvSpPr>
        <p:spPr>
          <a:xfrm>
            <a:off x="437567" y="276688"/>
            <a:ext cx="1348830" cy="359758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A46C8B3-62F5-6803-D89F-389D2C246BAA}"/>
              </a:ext>
            </a:extLst>
          </p:cNvPr>
          <p:cNvSpPr/>
          <p:nvPr/>
        </p:nvSpPr>
        <p:spPr>
          <a:xfrm>
            <a:off x="515988" y="282029"/>
            <a:ext cx="1191988" cy="244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ΕΠΙΣΚΌΠΗΣΗ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853EA78-CE45-2676-B18B-95236CB8E38D}"/>
              </a:ext>
            </a:extLst>
          </p:cNvPr>
          <p:cNvSpPr/>
          <p:nvPr/>
        </p:nvSpPr>
        <p:spPr>
          <a:xfrm>
            <a:off x="482894" y="636446"/>
            <a:ext cx="10886813" cy="83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55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Στόχος και Βασικές Λειτουργίες </a:t>
            </a:r>
            <a:r>
              <a:rPr lang="en-US" sz="3400" dirty="0" err="1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του</a:t>
            </a:r>
            <a:r>
              <a:rPr lang="en-US" sz="3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Έργου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C131116-E264-D69D-ADA6-46247699004D}"/>
              </a:ext>
            </a:extLst>
          </p:cNvPr>
          <p:cNvSpPr/>
          <p:nvPr/>
        </p:nvSpPr>
        <p:spPr>
          <a:xfrm>
            <a:off x="482894" y="1500592"/>
            <a:ext cx="11047690" cy="78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Ο βασικός μας στόχος ήταν η δημιουργία μιας πλήρους και λειτουργικής web εφαρμογής ηλεκτρονικού καταστήματος (e-shop), καλύπτοντας τις ανάγκες τόσο των πωλητών όσο και των αγοραστών.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3435835-6C32-661E-E494-78309686B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257" y="2541340"/>
            <a:ext cx="478538" cy="47853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40DBDE73-C012-5303-9693-847AF7D51D49}"/>
              </a:ext>
            </a:extLst>
          </p:cNvPr>
          <p:cNvSpPr/>
          <p:nvPr/>
        </p:nvSpPr>
        <p:spPr>
          <a:xfrm>
            <a:off x="1111982" y="2571286"/>
            <a:ext cx="2554762" cy="299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Διαχείριση Χρηστών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98DA963-F01E-228B-9698-33889B6BF89E}"/>
              </a:ext>
            </a:extLst>
          </p:cNvPr>
          <p:cNvSpPr/>
          <p:nvPr/>
        </p:nvSpPr>
        <p:spPr>
          <a:xfrm>
            <a:off x="1111983" y="2971967"/>
            <a:ext cx="3149122" cy="2523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Πλήρης λειτουργικότητα εγγραφής και σύνδεσης για δύο διακριτούς τύπους χρηστών: </a:t>
            </a: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Πολίτες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(οι αγοραστές) και </a:t>
            </a: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Μαγαζιά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(οι πωλητές).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9CE158E-8132-D129-6EE4-40EC2AD88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4640" y="2541340"/>
            <a:ext cx="478538" cy="478538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5D758C6D-4FCF-F361-A53F-138022B1DF47}"/>
              </a:ext>
            </a:extLst>
          </p:cNvPr>
          <p:cNvSpPr/>
          <p:nvPr/>
        </p:nvSpPr>
        <p:spPr>
          <a:xfrm>
            <a:off x="5083151" y="2541340"/>
            <a:ext cx="2783324" cy="299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Διαχείριση Προϊόντων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5F9A481-3DA3-34AF-1AF9-13F0692FE723}"/>
              </a:ext>
            </a:extLst>
          </p:cNvPr>
          <p:cNvSpPr/>
          <p:nvPr/>
        </p:nvSpPr>
        <p:spPr>
          <a:xfrm>
            <a:off x="5146713" y="2971967"/>
            <a:ext cx="3042223" cy="2743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Δυνατότητα στα συνεργαζόμενα μαγαζιά να προσθέτουν, να επεξεργάζονται και να διαχειρίζονται αποτελεσματικά τα προϊόντα τους στην πλατφόρμα.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19A90F5C-FAF3-C8E5-0853-7E21F9A8CA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5196" y="2541340"/>
            <a:ext cx="478538" cy="478538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66F04879-BFF8-C221-D64C-A119178E5373}"/>
              </a:ext>
            </a:extLst>
          </p:cNvPr>
          <p:cNvSpPr/>
          <p:nvPr/>
        </p:nvSpPr>
        <p:spPr>
          <a:xfrm>
            <a:off x="9275731" y="2540648"/>
            <a:ext cx="2254853" cy="299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Διαδικασία Αγορών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A9AAB0CE-354E-CE1A-FE00-2E629CB0D9D3}"/>
              </a:ext>
            </a:extLst>
          </p:cNvPr>
          <p:cNvSpPr/>
          <p:nvPr/>
        </p:nvSpPr>
        <p:spPr>
          <a:xfrm>
            <a:off x="9275731" y="2971967"/>
            <a:ext cx="2688750" cy="3035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Οι πολίτες μπορούν να αναζητούν προϊόντα, να τα προσθέτουν στο καλάθι τους και να ολοκληρώνουν απρόσκοπτα τις παραγγελίες τους.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305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69C64999-9F2D-A626-04E6-0295430FCA7B}"/>
              </a:ext>
            </a:extLst>
          </p:cNvPr>
          <p:cNvSpPr/>
          <p:nvPr/>
        </p:nvSpPr>
        <p:spPr>
          <a:xfrm>
            <a:off x="441412" y="432959"/>
            <a:ext cx="1526500" cy="383977"/>
          </a:xfrm>
          <a:prstGeom prst="roundRect">
            <a:avLst>
              <a:gd name="adj" fmla="val 18353"/>
            </a:avLst>
          </a:prstGeom>
          <a:solidFill>
            <a:srgbClr val="E1E1EA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C095494-8D9F-3C54-D6D9-A1999D7EC4F0}"/>
              </a:ext>
            </a:extLst>
          </p:cNvPr>
          <p:cNvSpPr/>
          <p:nvPr/>
        </p:nvSpPr>
        <p:spPr>
          <a:xfrm>
            <a:off x="567142" y="495824"/>
            <a:ext cx="1275040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ΑΡΧΙΤΕΚΤΟΝΙΚΉ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2BA4D05-58E6-ECAB-383A-6A63A7B11F34}"/>
              </a:ext>
            </a:extLst>
          </p:cNvPr>
          <p:cNvSpPr/>
          <p:nvPr/>
        </p:nvSpPr>
        <p:spPr>
          <a:xfrm>
            <a:off x="441412" y="894445"/>
            <a:ext cx="7508319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Πρότυπο MVC και Τεχνολογίες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0DC287B-BA04-AC7C-2AC9-D9C228688A1C}"/>
              </a:ext>
            </a:extLst>
          </p:cNvPr>
          <p:cNvSpPr/>
          <p:nvPr/>
        </p:nvSpPr>
        <p:spPr>
          <a:xfrm>
            <a:off x="569428" y="1796772"/>
            <a:ext cx="4274106" cy="2260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Η αρχιτεκτονική της εφαρμογής μας βασίζεται στο ευρέως αναγνωρισμένο πρότυπο </a:t>
            </a:r>
            <a:r>
              <a:rPr lang="en-US" sz="16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MVC (Model-View-Controller)</a:t>
            </a: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Αυτή η προσέγγιση επιτρέπει τον καθαρό διαχωρισμό των ανησυχιών, βελτιώνοντας τη διατηρησιμότητα και την επεκτασιμότητα του κώδικα.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0BC8414-3D7B-3D0D-723B-75FC3C292515}"/>
              </a:ext>
            </a:extLst>
          </p:cNvPr>
          <p:cNvSpPr/>
          <p:nvPr/>
        </p:nvSpPr>
        <p:spPr>
          <a:xfrm>
            <a:off x="441412" y="3853443"/>
            <a:ext cx="4274106" cy="22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Model</a:t>
            </a: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: Διαχείριση δεδομένων και επιχειρηματικής λογικής.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View</a:t>
            </a: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: Υπεύθυνο για την παρουσίαση των δεδομένων στον χρήστη.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Controller</a:t>
            </a: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: Διαχειρίζεται τις εισόδους του χρήστη και συντονίζει την αλληλεπίδραση μεταξύ Model και View.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634A6318-F775-CDED-712E-936E18B27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534" y="1796772"/>
            <a:ext cx="6987713" cy="419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897762DE-09F5-B8E0-3DAD-2F97DD6ED44B}"/>
              </a:ext>
            </a:extLst>
          </p:cNvPr>
          <p:cNvSpPr/>
          <p:nvPr/>
        </p:nvSpPr>
        <p:spPr>
          <a:xfrm>
            <a:off x="415087" y="392774"/>
            <a:ext cx="1407521" cy="361762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A24D094-0C31-945F-6CEE-3499B3F8F4A3}"/>
              </a:ext>
            </a:extLst>
          </p:cNvPr>
          <p:cNvSpPr/>
          <p:nvPr/>
        </p:nvSpPr>
        <p:spPr>
          <a:xfrm>
            <a:off x="484214" y="418957"/>
            <a:ext cx="1044991" cy="24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ΤΕΧΝΟΛΟΓΊΕΣ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9782623-8B9D-86FB-F950-22BCFE0E3E90}"/>
              </a:ext>
            </a:extLst>
          </p:cNvPr>
          <p:cNvSpPr/>
          <p:nvPr/>
        </p:nvSpPr>
        <p:spPr>
          <a:xfrm>
            <a:off x="348126" y="867943"/>
            <a:ext cx="4997973" cy="60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Tech Stack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71C598A-4D85-E637-DC83-35F02D0DFBBB}"/>
              </a:ext>
            </a:extLst>
          </p:cNvPr>
          <p:cNvSpPr/>
          <p:nvPr/>
        </p:nvSpPr>
        <p:spPr>
          <a:xfrm>
            <a:off x="348127" y="1724859"/>
            <a:ext cx="11495746" cy="61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Για την ανάπτυξη της εφαρμογής μας, επιλέξαμε ένα σύγχρονο και ισχυρό τεχνολογικό στοίβα που εξασφαλίζει απόδοση, ασφάλεια και ευκολία συντήρησης.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2277E1B-0742-B2A4-0BD7-0857876E1467}"/>
              </a:ext>
            </a:extLst>
          </p:cNvPr>
          <p:cNvSpPr/>
          <p:nvPr/>
        </p:nvSpPr>
        <p:spPr>
          <a:xfrm>
            <a:off x="348126" y="2776894"/>
            <a:ext cx="294896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Backend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CA5B006-F9BC-E7BD-B72D-17C473AE3845}"/>
              </a:ext>
            </a:extLst>
          </p:cNvPr>
          <p:cNvSpPr/>
          <p:nvPr/>
        </p:nvSpPr>
        <p:spPr>
          <a:xfrm>
            <a:off x="348124" y="3429000"/>
            <a:ext cx="5412594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Java 17 &amp; Spring Boot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: Για στιβαρή και γρήγορη ανάπτυξη.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Spring MVC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: Για τη διαχείριση των web requests.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Spring Data JPA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: Για την επικοινωνία με τη βάση δεδομένων.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CA3B466-0A82-637A-19F5-F0EF089B4B9E}"/>
              </a:ext>
            </a:extLst>
          </p:cNvPr>
          <p:cNvSpPr/>
          <p:nvPr/>
        </p:nvSpPr>
        <p:spPr>
          <a:xfrm>
            <a:off x="6431281" y="2776894"/>
            <a:ext cx="294896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Frontend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04916A9-949E-CD01-B99B-9384EFE3EEB8}"/>
              </a:ext>
            </a:extLst>
          </p:cNvPr>
          <p:cNvSpPr/>
          <p:nvPr/>
        </p:nvSpPr>
        <p:spPr>
          <a:xfrm>
            <a:off x="6431282" y="3429000"/>
            <a:ext cx="5412591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Thymeleaf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: Δυναμικές HTML σελίδες από τον server.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HTML / CSS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: Δομή και εμφάνιση της εφαρμογής.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22A358F-535B-7D28-3FD9-63D818BB3EA5}"/>
              </a:ext>
            </a:extLst>
          </p:cNvPr>
          <p:cNvSpPr/>
          <p:nvPr/>
        </p:nvSpPr>
        <p:spPr>
          <a:xfrm>
            <a:off x="6431281" y="4517136"/>
            <a:ext cx="404863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Βάση Δεδομένων &amp; Build Tool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13FBE49-9DFF-44A3-FBD5-102FB4B54B09}"/>
              </a:ext>
            </a:extLst>
          </p:cNvPr>
          <p:cNvSpPr/>
          <p:nvPr/>
        </p:nvSpPr>
        <p:spPr>
          <a:xfrm>
            <a:off x="6431282" y="5033768"/>
            <a:ext cx="5412594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MySQL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: Για την αποθήκευση δεδομένων.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Maven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: Για τη διαχείριση των εξαρτήσεων και την κατασκευή του έργου.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530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0F1971D0-E56A-FAE6-DDA7-C8A3658E0E4F}"/>
              </a:ext>
            </a:extLst>
          </p:cNvPr>
          <p:cNvSpPr/>
          <p:nvPr/>
        </p:nvSpPr>
        <p:spPr>
          <a:xfrm>
            <a:off x="556452" y="388549"/>
            <a:ext cx="1592388" cy="295156"/>
          </a:xfrm>
          <a:prstGeom prst="roundRect">
            <a:avLst>
              <a:gd name="adj" fmla="val 19385"/>
            </a:avLst>
          </a:prstGeom>
          <a:solidFill>
            <a:srgbClr val="E1E1EA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CD15C99-4684-5B8E-5011-42504ECB7328}"/>
              </a:ext>
            </a:extLst>
          </p:cNvPr>
          <p:cNvSpPr/>
          <p:nvPr/>
        </p:nvSpPr>
        <p:spPr>
          <a:xfrm>
            <a:off x="661583" y="441055"/>
            <a:ext cx="1032965" cy="19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ΔΟΜΉ ΔΕΔΟΜΈΝΩΝ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369FC62-C472-BD90-1418-0E749BD429A1}"/>
              </a:ext>
            </a:extLst>
          </p:cNvPr>
          <p:cNvSpPr/>
          <p:nvPr/>
        </p:nvSpPr>
        <p:spPr>
          <a:xfrm>
            <a:off x="556452" y="746332"/>
            <a:ext cx="9195076" cy="5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Βασικές Οντότητες &amp; Μοντέλο Βάσης Δεδομένων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0A6AA78-27A0-5F12-C6FB-25AA4433CF49}"/>
              </a:ext>
            </a:extLst>
          </p:cNvPr>
          <p:cNvSpPr/>
          <p:nvPr/>
        </p:nvSpPr>
        <p:spPr>
          <a:xfrm>
            <a:off x="556450" y="1384448"/>
            <a:ext cx="9375159" cy="24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Το σύστημα βασίζεται σε ένα καλά καθορισμένο μοντέλο δεδομένων, το οποίο οργανώνει τις κύριες οντότητες που αλληλεπιδρούν στην εφαρμογή.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F24E724F-A2AC-CA65-A925-4B964F03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51" y="1897547"/>
            <a:ext cx="970597" cy="970597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97A6BED5-1882-801E-D59C-B9E5FF9D6409}"/>
              </a:ext>
            </a:extLst>
          </p:cNvPr>
          <p:cNvSpPr/>
          <p:nvPr/>
        </p:nvSpPr>
        <p:spPr>
          <a:xfrm>
            <a:off x="556452" y="3006213"/>
            <a:ext cx="1698406" cy="26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Citizen (Πολίτης)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38E3B9A-E693-3B75-604C-315BC4C06330}"/>
              </a:ext>
            </a:extLst>
          </p:cNvPr>
          <p:cNvSpPr/>
          <p:nvPr/>
        </p:nvSpPr>
        <p:spPr>
          <a:xfrm>
            <a:off x="556450" y="3361258"/>
            <a:ext cx="2585513" cy="72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Αποθηκεύει τα στοιχεία του αγοραστή (ΑΦΜ, όνομα, email, κ.λπ.).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374595D2-A480-E54B-C635-F180AB2E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476" y="1897547"/>
            <a:ext cx="970597" cy="970597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777A7AA9-CC75-679E-FD83-35B625586E77}"/>
              </a:ext>
            </a:extLst>
          </p:cNvPr>
          <p:cNvSpPr/>
          <p:nvPr/>
        </p:nvSpPr>
        <p:spPr>
          <a:xfrm>
            <a:off x="3621478" y="3006213"/>
            <a:ext cx="1698406" cy="26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Shop (Μαγαζί)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5FBE76A-13B5-296A-71E2-CBF663604986}"/>
              </a:ext>
            </a:extLst>
          </p:cNvPr>
          <p:cNvSpPr/>
          <p:nvPr/>
        </p:nvSpPr>
        <p:spPr>
          <a:xfrm>
            <a:off x="3621477" y="3361258"/>
            <a:ext cx="2245400" cy="48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Αντιπροσωπεύει τον πωλητή και τα στοιχεία του.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8F005CDB-6F2D-72C8-37E9-180C192ED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03" y="1897548"/>
            <a:ext cx="1012678" cy="1012678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C12F695A-897C-E5C1-00A9-228BC6B4C9BC}"/>
              </a:ext>
            </a:extLst>
          </p:cNvPr>
          <p:cNvSpPr/>
          <p:nvPr/>
        </p:nvSpPr>
        <p:spPr>
          <a:xfrm>
            <a:off x="6686504" y="3006213"/>
            <a:ext cx="1698406" cy="26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Product (Προϊόν)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7625BC90-9A70-0C6C-FF92-7EBF9E7C89F8}"/>
              </a:ext>
            </a:extLst>
          </p:cNvPr>
          <p:cNvSpPr/>
          <p:nvPr/>
        </p:nvSpPr>
        <p:spPr>
          <a:xfrm>
            <a:off x="6686502" y="3361258"/>
            <a:ext cx="2585513" cy="586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Περιγράφει ένα προϊόν προς πώληση (τιμή, απόθεμα, μαγαζί).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021D771E-8F93-9067-0C0D-EDDF55E04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1528" y="1897547"/>
            <a:ext cx="1108666" cy="1108666"/>
          </a:xfrm>
          <a:prstGeom prst="rect">
            <a:avLst/>
          </a:prstGeom>
        </p:spPr>
      </p:pic>
      <p:sp>
        <p:nvSpPr>
          <p:cNvPr id="18" name="Text 10">
            <a:extLst>
              <a:ext uri="{FF2B5EF4-FFF2-40B4-BE49-F238E27FC236}">
                <a16:creationId xmlns:a16="http://schemas.microsoft.com/office/drawing/2014/main" id="{C88EBE05-B331-3D86-8665-6417BB1EEE0F}"/>
              </a:ext>
            </a:extLst>
          </p:cNvPr>
          <p:cNvSpPr/>
          <p:nvPr/>
        </p:nvSpPr>
        <p:spPr>
          <a:xfrm>
            <a:off x="9751530" y="3006213"/>
            <a:ext cx="1698406" cy="26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Cart (Καλάθι)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414C3FE5-9C21-CC8F-30C1-C4AB194353E7}"/>
              </a:ext>
            </a:extLst>
          </p:cNvPr>
          <p:cNvSpPr/>
          <p:nvPr/>
        </p:nvSpPr>
        <p:spPr>
          <a:xfrm>
            <a:off x="9751529" y="3361258"/>
            <a:ext cx="2245400" cy="48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Μια προσωρινή συλλογή προϊόντων για έναν πολίτη.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24D35C7B-7739-AA74-1C9A-F33F00F4E4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58" y="4306747"/>
            <a:ext cx="985994" cy="985994"/>
          </a:xfrm>
          <a:prstGeom prst="rect">
            <a:avLst/>
          </a:prstGeom>
        </p:spPr>
      </p:pic>
      <p:sp>
        <p:nvSpPr>
          <p:cNvPr id="21" name="Text 12">
            <a:extLst>
              <a:ext uri="{FF2B5EF4-FFF2-40B4-BE49-F238E27FC236}">
                <a16:creationId xmlns:a16="http://schemas.microsoft.com/office/drawing/2014/main" id="{26A82410-4B5E-583A-D63B-5EF05DDC8485}"/>
              </a:ext>
            </a:extLst>
          </p:cNvPr>
          <p:cNvSpPr/>
          <p:nvPr/>
        </p:nvSpPr>
        <p:spPr>
          <a:xfrm>
            <a:off x="525657" y="5465964"/>
            <a:ext cx="1884829" cy="26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Order (Παραγγελία)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DCD494C4-3C56-8F07-8887-61100DF4F6E9}"/>
              </a:ext>
            </a:extLst>
          </p:cNvPr>
          <p:cNvSpPr/>
          <p:nvPr/>
        </p:nvSpPr>
        <p:spPr>
          <a:xfrm>
            <a:off x="525656" y="5821008"/>
            <a:ext cx="2491863" cy="72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Το τελικό αποτέλεσμα μιας αγοράς, συνδέοντας προϊόντα με έναν πολίτη.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455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D61F46D0-302A-2E86-50F7-994C5B0C2A3B}"/>
              </a:ext>
            </a:extLst>
          </p:cNvPr>
          <p:cNvSpPr/>
          <p:nvPr/>
        </p:nvSpPr>
        <p:spPr>
          <a:xfrm>
            <a:off x="399167" y="311079"/>
            <a:ext cx="1290042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08B07792-A7DB-133D-D777-E7CA766B30F5}"/>
              </a:ext>
            </a:extLst>
          </p:cNvPr>
          <p:cNvSpPr/>
          <p:nvPr/>
        </p:nvSpPr>
        <p:spPr>
          <a:xfrm>
            <a:off x="535255" y="379064"/>
            <a:ext cx="101786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ΥΛΟΠΟΊΗΣΗ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C677E0D-345B-B566-9EC3-820962BDC1FC}"/>
              </a:ext>
            </a:extLst>
          </p:cNvPr>
          <p:cNvSpPr/>
          <p:nvPr/>
        </p:nvSpPr>
        <p:spPr>
          <a:xfrm>
            <a:off x="368687" y="737323"/>
            <a:ext cx="95154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Κύρια Χαρακτηριστικά &amp; Υλοποίηση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3D860563-D0D8-F86B-84E2-8D0F6DCCCCCA}"/>
              </a:ext>
            </a:extLst>
          </p:cNvPr>
          <p:cNvSpPr/>
          <p:nvPr/>
        </p:nvSpPr>
        <p:spPr>
          <a:xfrm>
            <a:off x="368687" y="1727268"/>
            <a:ext cx="3590330" cy="4404479"/>
          </a:xfrm>
          <a:prstGeom prst="roundRect">
            <a:avLst>
              <a:gd name="adj" fmla="val 348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BF4F7823-A83D-2F12-3E98-78186FAC2895}"/>
              </a:ext>
            </a:extLst>
          </p:cNvPr>
          <p:cNvSpPr/>
          <p:nvPr/>
        </p:nvSpPr>
        <p:spPr>
          <a:xfrm>
            <a:off x="338207" y="1727268"/>
            <a:ext cx="121920" cy="440447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474FB1CA-C9B7-AE7D-6EC1-7C7A278C3EBC}"/>
              </a:ext>
            </a:extLst>
          </p:cNvPr>
          <p:cNvSpPr/>
          <p:nvPr/>
        </p:nvSpPr>
        <p:spPr>
          <a:xfrm>
            <a:off x="717421" y="1984562"/>
            <a:ext cx="3047755" cy="1126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Authentication &amp; Sessions</a:t>
            </a: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4C03A176-B6AA-49BD-5E2A-8AB9FA6EA125}"/>
              </a:ext>
            </a:extLst>
          </p:cNvPr>
          <p:cNvSpPr/>
          <p:nvPr/>
        </p:nvSpPr>
        <p:spPr>
          <a:xfrm>
            <a:off x="717421" y="3368047"/>
            <a:ext cx="2981241" cy="2506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l-GR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Υλοποίηση ελέγχου πρόσβασης μέσω HttpSession και Session Guards για την προστασία των endpoints ανάλογα με το ρόλο (Citizen ή Shop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E7C9CAAB-155C-61BE-C106-EE0D409D5E95}"/>
              </a:ext>
            </a:extLst>
          </p:cNvPr>
          <p:cNvSpPr/>
          <p:nvPr/>
        </p:nvSpPr>
        <p:spPr>
          <a:xfrm>
            <a:off x="4291830" y="1727268"/>
            <a:ext cx="3480610" cy="4404479"/>
          </a:xfrm>
          <a:prstGeom prst="roundRect">
            <a:avLst>
              <a:gd name="adj" fmla="val 348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C9AB48A6-FBBB-AB02-91AC-1AD0B5E6D9C6}"/>
              </a:ext>
            </a:extLst>
          </p:cNvPr>
          <p:cNvSpPr/>
          <p:nvPr/>
        </p:nvSpPr>
        <p:spPr>
          <a:xfrm>
            <a:off x="4291830" y="1727268"/>
            <a:ext cx="121920" cy="440447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22628EB2-BC1E-FA48-FF53-D097746980AA}"/>
              </a:ext>
            </a:extLst>
          </p:cNvPr>
          <p:cNvSpPr/>
          <p:nvPr/>
        </p:nvSpPr>
        <p:spPr>
          <a:xfrm>
            <a:off x="4547503" y="1984562"/>
            <a:ext cx="307898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Server-Side Rendering με Thymeleaf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7E897192-B24F-6C25-B261-53A615E9C22F}"/>
              </a:ext>
            </a:extLst>
          </p:cNvPr>
          <p:cNvSpPr/>
          <p:nvPr/>
        </p:nvSpPr>
        <p:spPr>
          <a:xfrm>
            <a:off x="4594844" y="2971233"/>
            <a:ext cx="307898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Το frontend δημιουργείται δυναμικά στον server, ενσωματώνοντας εύκολα τη λογική της Java μέσα στο HTML για γρήγορη και συνεπή ανάπτυξη UI.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32A000AA-714D-22B1-0664-7BF591666B5D}"/>
              </a:ext>
            </a:extLst>
          </p:cNvPr>
          <p:cNvSpPr/>
          <p:nvPr/>
        </p:nvSpPr>
        <p:spPr>
          <a:xfrm>
            <a:off x="8135734" y="1727268"/>
            <a:ext cx="3505413" cy="4404479"/>
          </a:xfrm>
          <a:prstGeom prst="roundRect">
            <a:avLst>
              <a:gd name="adj" fmla="val 348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9137AB21-6919-FED1-A375-25309B0D5E7E}"/>
              </a:ext>
            </a:extLst>
          </p:cNvPr>
          <p:cNvSpPr/>
          <p:nvPr/>
        </p:nvSpPr>
        <p:spPr>
          <a:xfrm>
            <a:off x="8105254" y="1727268"/>
            <a:ext cx="121920" cy="4404479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5AB969D7-290C-BF17-C1EA-E01D833BD853}"/>
              </a:ext>
            </a:extLst>
          </p:cNvPr>
          <p:cNvSpPr/>
          <p:nvPr/>
        </p:nvSpPr>
        <p:spPr>
          <a:xfrm>
            <a:off x="8433545" y="1969995"/>
            <a:ext cx="3116162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Επικύρωση Δεδομένων (Data Validation)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7497BFA7-C470-0E36-C6E8-4DDAB6A879AC}"/>
              </a:ext>
            </a:extLst>
          </p:cNvPr>
          <p:cNvSpPr/>
          <p:nvPr/>
        </p:nvSpPr>
        <p:spPr>
          <a:xfrm>
            <a:off x="8484469" y="3396524"/>
            <a:ext cx="3065238" cy="24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Αξιοποιήσαμε το Spring Validation για την εξασφάλιση της ποιότητας των δεδομένων, κάνοντας την εφαρμογή ανθεκτικότερη σε λανθασμένες καταχωρήσεις.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74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52ADEE4B-8519-86AC-0BE4-3EC574A72344}"/>
              </a:ext>
            </a:extLst>
          </p:cNvPr>
          <p:cNvSpPr/>
          <p:nvPr/>
        </p:nvSpPr>
        <p:spPr>
          <a:xfrm>
            <a:off x="333781" y="181073"/>
            <a:ext cx="895707" cy="334089"/>
          </a:xfrm>
          <a:prstGeom prst="roundRect">
            <a:avLst>
              <a:gd name="adj" fmla="val 18967"/>
            </a:avLst>
          </a:prstGeom>
          <a:solidFill>
            <a:srgbClr val="E1E1EA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A4A6239-DD8E-695F-AEF3-16F944F9824B}"/>
              </a:ext>
            </a:extLst>
          </p:cNvPr>
          <p:cNvSpPr/>
          <p:nvPr/>
        </p:nvSpPr>
        <p:spPr>
          <a:xfrm>
            <a:off x="446890" y="237628"/>
            <a:ext cx="669488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ΕΠΊΔΕΙΞΗ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97AEF81-70B2-2BEA-42D2-73103A56C468}"/>
              </a:ext>
            </a:extLst>
          </p:cNvPr>
          <p:cNvSpPr/>
          <p:nvPr/>
        </p:nvSpPr>
        <p:spPr>
          <a:xfrm>
            <a:off x="333781" y="577789"/>
            <a:ext cx="8026360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Στιγμιότυπα Εφαρμογής (Live Demo)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33F27B2-14DC-2182-7E82-EDC361BADE8D}"/>
              </a:ext>
            </a:extLst>
          </p:cNvPr>
          <p:cNvSpPr/>
          <p:nvPr/>
        </p:nvSpPr>
        <p:spPr>
          <a:xfrm>
            <a:off x="333781" y="1229775"/>
            <a:ext cx="750137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Ας δούμε από κοντά πώς λειτουργεί η εφαρμογή με μια γρήγορη επίδειξη των βασικών λειτουργιών.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4CE6EA8-E1BE-66E3-6A26-FDDFB31F94AF}"/>
              </a:ext>
            </a:extLst>
          </p:cNvPr>
          <p:cNvSpPr/>
          <p:nvPr/>
        </p:nvSpPr>
        <p:spPr>
          <a:xfrm>
            <a:off x="333781" y="1682332"/>
            <a:ext cx="424220" cy="42422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87C6CBB-3FB5-A671-9923-A09AA1C14934}"/>
              </a:ext>
            </a:extLst>
          </p:cNvPr>
          <p:cNvSpPr/>
          <p:nvPr/>
        </p:nvSpPr>
        <p:spPr>
          <a:xfrm>
            <a:off x="404444" y="1717634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BB053A6-0FA2-C41F-DCD9-667DE28AAC3E}"/>
              </a:ext>
            </a:extLst>
          </p:cNvPr>
          <p:cNvSpPr/>
          <p:nvPr/>
        </p:nvSpPr>
        <p:spPr>
          <a:xfrm>
            <a:off x="914687" y="1747102"/>
            <a:ext cx="3220164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Σελίδα Σύνδεσης &amp; Εγγραφής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16C4137-2545-2152-0D72-8FF5A4C3D6EB}"/>
              </a:ext>
            </a:extLst>
          </p:cNvPr>
          <p:cNvSpPr/>
          <p:nvPr/>
        </p:nvSpPr>
        <p:spPr>
          <a:xfrm>
            <a:off x="914687" y="2135841"/>
            <a:ext cx="46703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Επισκόπηση των φορμών και των ρόλων (Πολίτης/Μαγαζί).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BBF89FA-20BB-2A2E-229D-97230A9E39C4}"/>
              </a:ext>
            </a:extLst>
          </p:cNvPr>
          <p:cNvSpPr/>
          <p:nvPr/>
        </p:nvSpPr>
        <p:spPr>
          <a:xfrm>
            <a:off x="333781" y="2725557"/>
            <a:ext cx="424220" cy="42422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080733D-0BBA-4F73-B5A7-C748D4369B6A}"/>
              </a:ext>
            </a:extLst>
          </p:cNvPr>
          <p:cNvSpPr/>
          <p:nvPr/>
        </p:nvSpPr>
        <p:spPr>
          <a:xfrm>
            <a:off x="404444" y="2760859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C0A1DF0-E0F0-685B-0DC5-4877060F2429}"/>
              </a:ext>
            </a:extLst>
          </p:cNvPr>
          <p:cNvSpPr/>
          <p:nvPr/>
        </p:nvSpPr>
        <p:spPr>
          <a:xfrm>
            <a:off x="914687" y="2790327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Προβολή Προϊόντων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86BF97C-8A11-FB9D-29DB-65AA5F7C76FE}"/>
              </a:ext>
            </a:extLst>
          </p:cNvPr>
          <p:cNvSpPr/>
          <p:nvPr/>
        </p:nvSpPr>
        <p:spPr>
          <a:xfrm>
            <a:off x="914687" y="3179066"/>
            <a:ext cx="444620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Η κεντρική σελίδα για την αναζήτηση προϊόντων.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3398C33-1D61-626C-10D8-CC66C764D027}"/>
              </a:ext>
            </a:extLst>
          </p:cNvPr>
          <p:cNvSpPr/>
          <p:nvPr/>
        </p:nvSpPr>
        <p:spPr>
          <a:xfrm>
            <a:off x="333781" y="3768783"/>
            <a:ext cx="424220" cy="42422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ECF7FB1-7EF4-E5E1-BA99-1779D202232A}"/>
              </a:ext>
            </a:extLst>
          </p:cNvPr>
          <p:cNvSpPr/>
          <p:nvPr/>
        </p:nvSpPr>
        <p:spPr>
          <a:xfrm>
            <a:off x="404444" y="3804085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3B713E3-1B5E-9784-A684-74EB3809EDE5}"/>
              </a:ext>
            </a:extLst>
          </p:cNvPr>
          <p:cNvSpPr/>
          <p:nvPr/>
        </p:nvSpPr>
        <p:spPr>
          <a:xfrm>
            <a:off x="914687" y="3833553"/>
            <a:ext cx="3859887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Προσθήκη Προϊόντος (Ρόλος Shop)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27A9747-7E77-7A86-4AA0-64A6B26EBBB5}"/>
              </a:ext>
            </a:extLst>
          </p:cNvPr>
          <p:cNvSpPr/>
          <p:nvPr/>
        </p:nvSpPr>
        <p:spPr>
          <a:xfrm>
            <a:off x="914687" y="4222292"/>
            <a:ext cx="42131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Φόρμα προσθήκης νέου προϊόντος από πωλητή.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7322374B-9ADB-1AFA-2831-DD4C781A3BBB}"/>
              </a:ext>
            </a:extLst>
          </p:cNvPr>
          <p:cNvSpPr/>
          <p:nvPr/>
        </p:nvSpPr>
        <p:spPr>
          <a:xfrm>
            <a:off x="333781" y="4812008"/>
            <a:ext cx="424220" cy="42422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7D06942-6AD7-6134-8311-99AEF84EFE68}"/>
              </a:ext>
            </a:extLst>
          </p:cNvPr>
          <p:cNvSpPr/>
          <p:nvPr/>
        </p:nvSpPr>
        <p:spPr>
          <a:xfrm>
            <a:off x="404444" y="4847310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7A43FA1-CA4D-9414-4D37-5BE5A039DE14}"/>
              </a:ext>
            </a:extLst>
          </p:cNvPr>
          <p:cNvSpPr/>
          <p:nvPr/>
        </p:nvSpPr>
        <p:spPr>
          <a:xfrm>
            <a:off x="914687" y="4876778"/>
            <a:ext cx="3748087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Διαδικασία Αγοράς (Ρόλος Citizen)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EA28DE1-D6C7-A785-3773-3757634C9B9F}"/>
              </a:ext>
            </a:extLst>
          </p:cNvPr>
          <p:cNvSpPr/>
          <p:nvPr/>
        </p:nvSpPr>
        <p:spPr>
          <a:xfrm>
            <a:off x="914687" y="5265517"/>
            <a:ext cx="501994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Προσθήκη στο καλάθι, πλοήγηση και ολοκλήρωση παραγγελίας.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94E5CC6C-4E84-E837-FF42-8E75CBB3A9EB}"/>
              </a:ext>
            </a:extLst>
          </p:cNvPr>
          <p:cNvSpPr/>
          <p:nvPr/>
        </p:nvSpPr>
        <p:spPr>
          <a:xfrm>
            <a:off x="333781" y="5855234"/>
            <a:ext cx="424220" cy="42422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05E154CB-1CF8-0F5C-9452-48E6BE5C2BC4}"/>
              </a:ext>
            </a:extLst>
          </p:cNvPr>
          <p:cNvSpPr/>
          <p:nvPr/>
        </p:nvSpPr>
        <p:spPr>
          <a:xfrm>
            <a:off x="404444" y="5890536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5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E3E4A8CB-E6DF-15AF-03E2-DBDC380C4BDB}"/>
              </a:ext>
            </a:extLst>
          </p:cNvPr>
          <p:cNvSpPr/>
          <p:nvPr/>
        </p:nvSpPr>
        <p:spPr>
          <a:xfrm>
            <a:off x="914687" y="5920004"/>
            <a:ext cx="248078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Ιστορικό Παραγγελιών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C79BAE0D-23A4-07A3-F2AD-687457EAD585}"/>
              </a:ext>
            </a:extLst>
          </p:cNvPr>
          <p:cNvSpPr/>
          <p:nvPr/>
        </p:nvSpPr>
        <p:spPr>
          <a:xfrm>
            <a:off x="914687" y="6308743"/>
            <a:ext cx="518131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Προβολή προηγούμενων αγορών από τον Πολίτη.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066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575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Efi Korlou</dc:creator>
  <cp:lastModifiedBy>Efi Korlou</cp:lastModifiedBy>
  <cp:revision>3</cp:revision>
  <dcterms:created xsi:type="dcterms:W3CDTF">2026-02-01T11:15:44Z</dcterms:created>
  <dcterms:modified xsi:type="dcterms:W3CDTF">2026-02-02T07:30:37Z</dcterms:modified>
</cp:coreProperties>
</file>